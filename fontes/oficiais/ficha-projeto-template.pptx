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12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29D57-679E-4F3A-A78F-7701D91F2552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D1F42-ADBA-47BC-88EB-2774F9DB2B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7730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E9E0-C8C7-4F9A-B50E-90EABA83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BB94E-57DA-604F-757B-A51DCE1DF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ED522-F81B-B3DB-1494-4169D8925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Modelo: </a:t>
            </a:r>
            <a:r>
              <a:rPr err="1"/>
              <a:t>texto</a:t>
            </a:r>
            <a:r>
              <a:t> e </a:t>
            </a:r>
            <a:r>
              <a:rPr err="1"/>
              <a:t>imagem</a:t>
            </a:r>
            <a:r>
              <a:t> </a:t>
            </a:r>
            <a:r>
              <a:rPr err="1"/>
              <a:t>sobre</a:t>
            </a:r>
            <a:r>
              <a:t> </a:t>
            </a:r>
            <a:r>
              <a:rPr err="1"/>
              <a:t>fundo</a:t>
            </a:r>
            <a:r>
              <a:t> </a:t>
            </a:r>
            <a:r>
              <a:rPr err="1"/>
              <a:t>escuro</a:t>
            </a:r>
            <a: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7A741-6070-6A52-69C0-2200C7C5A94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0212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9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14EC37C-ED36-325A-0751-B5A983CE883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0429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Corporativo | Interno</a:t>
            </a:r>
          </a:p>
        </p:txBody>
      </p:sp>
    </p:spTree>
    <p:extLst>
      <p:ext uri="{BB962C8B-B14F-4D97-AF65-F5344CB8AC3E}">
        <p14:creationId xmlns:p14="http://schemas.microsoft.com/office/powerpoint/2010/main" val="89712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53A27-8FE6-3C79-5086-D73870A3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834F6F9-5A8A-5EF8-2057-D2976FC51F6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76200" cy="62865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ADD33C-C7CD-7250-EA3F-64032E60B1F5}"/>
              </a:ext>
            </a:extLst>
          </p:cNvPr>
          <p:cNvSpPr>
            <a:spLocks noGrp="1"/>
          </p:cNvSpPr>
          <p:nvPr/>
        </p:nvSpPr>
        <p:spPr>
          <a:xfrm>
            <a:off x="876300" y="560070"/>
            <a:ext cx="1000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FFFFFF"/>
                </a:solidFill>
                <a:latin typeface="Itau Display Pro XBold"/>
                <a:ea typeface="Itau Display Pro XBold"/>
                <a:cs typeface="Itau Display Pro XBold"/>
              </a:defRPr>
            </a:pPr>
            <a:r>
              <a:rPr kumimoji="0" lang="pt-BR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tau Display Pro XBold"/>
                <a:ea typeface="Itau Display Pro XBold"/>
                <a:cs typeface="Itau Display Pro XBold"/>
              </a:rPr>
              <a:t>Ficha de submissão – Parte 1 do Projeto</a:t>
            </a:r>
            <a:endParaRPr kumimoji="0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tau Display Pro XBold"/>
              <a:ea typeface="Itau Display Pro XBold"/>
              <a:cs typeface="Itau Display Pro XBold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C1ECBFBC-9893-AC05-CA0F-DFC2A6E4D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3268" y="6381750"/>
            <a:ext cx="836613" cy="381000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D621103-5BEB-1CE4-4FB9-B8AB25179124}"/>
              </a:ext>
            </a:extLst>
          </p:cNvPr>
          <p:cNvSpPr/>
          <p:nvPr/>
        </p:nvSpPr>
        <p:spPr>
          <a:xfrm>
            <a:off x="647700" y="1260909"/>
            <a:ext cx="5542146" cy="4235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62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Nome do Agente: 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39847EA-E020-CC22-4E03-8B57F321B69E}"/>
              </a:ext>
            </a:extLst>
          </p:cNvPr>
          <p:cNvSpPr/>
          <p:nvPr/>
        </p:nvSpPr>
        <p:spPr>
          <a:xfrm>
            <a:off x="647700" y="186266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O Problema: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Qual dor concreta queremos resolver e por que ela importa?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" panose="020B0503020204020204" pitchFamily="34" charset="0"/>
              <a:ea typeface="Calibri"/>
              <a:cs typeface="Itau Display Pro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Formato sugerido:</a:t>
            </a:r>
            <a:b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1 frase + 2 evidências/impactos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B1026ED-678E-7C32-2BCF-5605BB66A5B6}"/>
              </a:ext>
            </a:extLst>
          </p:cNvPr>
          <p:cNvSpPr/>
          <p:nvPr/>
        </p:nvSpPr>
        <p:spPr>
          <a:xfrm>
            <a:off x="4279900" y="1862668"/>
            <a:ext cx="3433233" cy="2125132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Momento do Usuário: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Para quem estamos resolvendo e em qual situação?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" panose="020B0503020204020204" pitchFamily="34" charset="0"/>
              <a:ea typeface="Calibri"/>
              <a:cs typeface="Itau Display Pro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Formato sugerido: </a:t>
            </a:r>
            <a:b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Persona + contexto/gatilho de uso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880420B-87F5-AD5A-B054-9D138A883CE3}"/>
              </a:ext>
            </a:extLst>
          </p:cNvPr>
          <p:cNvSpPr/>
          <p:nvPr/>
        </p:nvSpPr>
        <p:spPr>
          <a:xfrm>
            <a:off x="7912100" y="186266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Proposta do Agente: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Como o agente ajudará a resolver essa dor?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" panose="020B0503020204020204" pitchFamily="34" charset="0"/>
              <a:ea typeface="Calibri"/>
              <a:cs typeface="Itau Display Pro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Formato sugerido: </a:t>
            </a:r>
            <a:b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1 proposta de valor + 3 capacidades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52AA6C4-E55A-2B6C-A18B-E9E0D8A785A7}"/>
              </a:ext>
            </a:extLst>
          </p:cNvPr>
          <p:cNvSpPr/>
          <p:nvPr/>
        </p:nvSpPr>
        <p:spPr>
          <a:xfrm>
            <a:off x="647700" y="418422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Dados e tecnologia: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</a:b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Quais dados, inteligência e ações tornam a solução possível?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" panose="020B0503020204020204" pitchFamily="34" charset="0"/>
              <a:ea typeface="Calibri"/>
              <a:cs typeface="Itau Display Pro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Formato sugerido:</a:t>
            </a:r>
            <a:b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Arquitetura com 3–5 etapas + dados/tecnologias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 Black" panose="020B0903020204020204" pitchFamily="34" charset="0"/>
              <a:ea typeface="Calibri"/>
              <a:cs typeface="Itau Display Pro Black" panose="020B0903020204020204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9E7D8D3-AA05-11F1-70CC-B86D4136F900}"/>
              </a:ext>
            </a:extLst>
          </p:cNvPr>
          <p:cNvSpPr/>
          <p:nvPr/>
        </p:nvSpPr>
        <p:spPr>
          <a:xfrm>
            <a:off x="4279900" y="4184228"/>
            <a:ext cx="3433233" cy="2125132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Como mediremos valor: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</a:b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Como saberemos que a solução gerou valor?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" panose="020B0503020204020204" pitchFamily="34" charset="0"/>
              <a:ea typeface="Calibri"/>
              <a:cs typeface="Itau Display Pro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Formato sugerido:</a:t>
            </a:r>
            <a:b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2–4 métricas/sinais de sucesso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9683534-50E7-B1FF-A8A8-25E2C4881DE4}"/>
              </a:ext>
            </a:extLst>
          </p:cNvPr>
          <p:cNvSpPr/>
          <p:nvPr/>
        </p:nvSpPr>
        <p:spPr>
          <a:xfrm>
            <a:off x="7912100" y="4184227"/>
            <a:ext cx="3433233" cy="2125133"/>
          </a:xfrm>
          <a:prstGeom prst="roundRect">
            <a:avLst>
              <a:gd name="adj" fmla="val 523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Escopo da Demo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</a:b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O que será demonstrado ao final?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tau Display Pro" panose="020B0503020204020204" pitchFamily="34" charset="0"/>
              <a:ea typeface="Calibri"/>
              <a:cs typeface="Itau Display Pro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Formato sugerido: </a:t>
            </a:r>
            <a:b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</a:b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tau Display Pro" panose="020B0503020204020204" pitchFamily="34" charset="0"/>
                <a:ea typeface="Calibri"/>
                <a:cs typeface="Itau Display Pro" panose="020B0503020204020204" pitchFamily="34" charset="0"/>
              </a:rPr>
              <a:t>1 jornada ponta a ponta + limites do protótipo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0E92CF2-1957-367F-AFA3-C447D8E1C57F}"/>
              </a:ext>
            </a:extLst>
          </p:cNvPr>
          <p:cNvSpPr/>
          <p:nvPr/>
        </p:nvSpPr>
        <p:spPr>
          <a:xfrm>
            <a:off x="6411629" y="1260909"/>
            <a:ext cx="4933704" cy="4235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6200"/>
                </a:solidFill>
                <a:effectLst/>
                <a:uLnTx/>
                <a:uFillTx/>
                <a:latin typeface="Itau Display Pro Black" panose="020B0903020204020204" pitchFamily="34" charset="0"/>
                <a:ea typeface="Calibri"/>
                <a:cs typeface="Itau Display Pro Black" panose="020B0903020204020204" pitchFamily="34" charset="0"/>
              </a:rPr>
              <a:t>Equipe:</a:t>
            </a:r>
          </a:p>
        </p:txBody>
      </p:sp>
    </p:spTree>
    <p:extLst>
      <p:ext uri="{BB962C8B-B14F-4D97-AF65-F5344CB8AC3E}">
        <p14:creationId xmlns:p14="http://schemas.microsoft.com/office/powerpoint/2010/main" val="30733585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Batalha de Agentes Itaú">
      <a:dk1>
        <a:srgbClr val="000000"/>
      </a:dk1>
      <a:lt1>
        <a:srgbClr val="FFFFFF"/>
      </a:lt1>
      <a:dk2>
        <a:srgbClr val="151515"/>
      </a:dk2>
      <a:lt2>
        <a:srgbClr val="F1F2F4"/>
      </a:lt2>
      <a:accent1>
        <a:srgbClr val="FF6200"/>
      </a:accent1>
      <a:accent2>
        <a:srgbClr val="FFD390"/>
      </a:accent2>
      <a:accent3>
        <a:srgbClr val="000000"/>
      </a:accent3>
      <a:accent4>
        <a:srgbClr val="B3B3B3"/>
      </a:accent4>
      <a:accent5>
        <a:srgbClr val="CFD1D3"/>
      </a:accent5>
      <a:accent6>
        <a:srgbClr val="F1F2F4"/>
      </a:accent6>
      <a:hlink>
        <a:srgbClr val="FF6200"/>
      </a:hlink>
      <a:folHlink>
        <a:srgbClr val="A63F0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atalha de Agentes Itaú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Itau Display Pro</vt:lpstr>
      <vt:lpstr>Itau Display Pro Black</vt:lpstr>
      <vt:lpstr>Itau Display Pro XBold</vt:lpstr>
      <vt:lpstr>ChatGPT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Humberto Yago da Silva Pinto</dc:creator>
  <cp:lastModifiedBy>Humberto Yago da Silva Pinto</cp:lastModifiedBy>
  <cp:revision>1</cp:revision>
  <dcterms:created xsi:type="dcterms:W3CDTF">2026-09-26T14:31:40Z</dcterms:created>
  <dcterms:modified xsi:type="dcterms:W3CDTF">2026-09-26T14:32:09Z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c996bf-6aee-415c-aa4c-e35ad0009c67_Enabled">
    <vt:lpwstr>true</vt:lpwstr>
  </property>
  <property fmtid="{D5CDD505-2E9C-101B-9397-08002B2CF9AE}" pid="3" name="MSIP_Label_4fc996bf-6aee-415c-aa4c-e35ad0009c67_SetDate">
    <vt:lpwstr>2026-09-26T14:31:48Z</vt:lpwstr>
  </property>
  <property fmtid="{D5CDD505-2E9C-101B-9397-08002B2CF9AE}" pid="4" name="MSIP_Label_4fc996bf-6aee-415c-aa4c-e35ad0009c67_Method">
    <vt:lpwstr>Standard</vt:lpwstr>
  </property>
  <property fmtid="{D5CDD505-2E9C-101B-9397-08002B2CF9AE}" pid="5" name="MSIP_Label_4fc996bf-6aee-415c-aa4c-e35ad0009c67_Name">
    <vt:lpwstr>Compartilhamento Interno</vt:lpwstr>
  </property>
  <property fmtid="{D5CDD505-2E9C-101B-9397-08002B2CF9AE}" pid="6" name="MSIP_Label_4fc996bf-6aee-415c-aa4c-e35ad0009c67_SiteId">
    <vt:lpwstr>591669a0-183f-49a5-98f4-9aa0d0b63d81</vt:lpwstr>
  </property>
  <property fmtid="{D5CDD505-2E9C-101B-9397-08002B2CF9AE}" pid="7" name="MSIP_Label_4fc996bf-6aee-415c-aa4c-e35ad0009c67_ActionId">
    <vt:lpwstr>d50e69fa-dacb-4dda-9214-3f32fbab255e</vt:lpwstr>
  </property>
  <property fmtid="{D5CDD505-2E9C-101B-9397-08002B2CF9AE}" pid="8" name="MSIP_Label_4fc996bf-6aee-415c-aa4c-e35ad0009c67_ContentBits">
    <vt:lpwstr>2</vt:lpwstr>
  </property>
  <property fmtid="{D5CDD505-2E9C-101B-9397-08002B2CF9AE}" pid="9" name="MSIP_Label_4fc996bf-6aee-415c-aa4c-e35ad0009c67_Tag">
    <vt:lpwstr>10, 3, 0, 1</vt:lpwstr>
  </property>
  <property fmtid="{D5CDD505-2E9C-101B-9397-08002B2CF9AE}" pid="10" name="ClassificationContentMarkingFooterLocations">
    <vt:lpwstr>ChatGPT:3</vt:lpwstr>
  </property>
  <property fmtid="{D5CDD505-2E9C-101B-9397-08002B2CF9AE}" pid="11" name="ClassificationContentMarkingFooterText">
    <vt:lpwstr>Corporativo | Interno</vt:lpwstr>
  </property>
</Properties>
</file>