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8d55acc21a439d" /><Relationship Type="http://schemas.openxmlformats.org/officeDocument/2006/relationships/extended-properties" Target="/docProps/app.xml" Id="R5f4dabe780624a8d" /><Relationship Type="http://schemas.openxmlformats.org/officeDocument/2006/relationships/officeDocument" Target="/ppt/presentation.xml" Id="Rf634c2a40e6b47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7ff6e3738a4b4e"/>
  </p:sldMasterIdLst>
  <p:notesMasterIdLst>
    <p:notesMasterId xmlns:r="http://schemas.openxmlformats.org/officeDocument/2006/relationships" r:id="Rf4b214db226f4b57"/>
  </p:notesMasterIdLst>
  <p:sldIdLst>
    <p:sldId xmlns:r="http://schemas.openxmlformats.org/officeDocument/2006/relationships" id="256" r:id="R3bb0d28075d0482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3d23b4e3054029" /><Relationship Type="http://schemas.openxmlformats.org/officeDocument/2006/relationships/slideMaster" Target="/ppt/slideMasters/slideMaster1.xml" Id="R927ff6e3738a4b4e" /><Relationship Type="http://schemas.openxmlformats.org/officeDocument/2006/relationships/notesMaster" Target="/ppt/notesMasters/notesMaster1.xml" Id="Rf4b214db226f4b57" /><Relationship Type="http://schemas.openxmlformats.org/officeDocument/2006/relationships/presProps" Target="/ppt/presProps.xml" Id="R5791c3bafb0a41f3" /><Relationship Type="http://schemas.openxmlformats.org/officeDocument/2006/relationships/viewProps" Target="/ppt/viewProps.xml" Id="Ra27f3d889b804ffc" /><Relationship Type="http://schemas.openxmlformats.org/officeDocument/2006/relationships/tableStyles" Target="/ppt/tableStyles.xml" Id="Refa286d56f7e4a38" /><Relationship Type="http://schemas.openxmlformats.org/officeDocument/2006/relationships/slide" Target="/ppt/slides/slide1.xml" Id="R3bb0d28075d048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9c618130ec41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Batalha de Agentes Itaú">
      <a:dk1>
        <a:srgbClr val="000000"/>
      </a:dk1>
      <a:lt1>
        <a:srgbClr val="FFFFFF"/>
      </a:lt1>
      <a:dk2>
        <a:srgbClr val="151515"/>
      </a:dk2>
      <a:lt2>
        <a:srgbClr val="F1F2F4"/>
      </a:lt2>
      <a:accent1>
        <a:srgbClr val="FF6200"/>
      </a:accent1>
      <a:accent2>
        <a:srgbClr val="FFD390"/>
      </a:accent2>
      <a:accent3>
        <a:srgbClr val="000000"/>
      </a:accent3>
      <a:accent4>
        <a:srgbClr val="B3B3B3"/>
      </a:accent4>
      <a:accent5>
        <a:srgbClr val="CFD1D3"/>
      </a:accent5>
      <a:accent6>
        <a:srgbClr val="F1F2F4"/>
      </a:accent6>
      <a:hlink>
        <a:srgbClr val="FF6200"/>
      </a:hlink>
      <a:folHlink>
        <a:srgbClr val="A63F0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atalha de Agentes Itaú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3681464f684625" /><Relationship Type="http://schemas.openxmlformats.org/officeDocument/2006/relationships/notesMaster" Target="/ppt/notesMasters/notesMaster1.xml" Id="R72fecbc5b75c48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de síntese para o Time 05, não decisão formal da equipe. Fonte: transcrição pausada Solution planning for well-being, 26/09/2026 11h32, https://notes.granola.ai/d/e76330ae-b201-4aed-a503-b4a6ac5f5e79. CSV local: extrato_sintetico.csv.gz, 467.585 linhas, 1.000 IDs, ano 2025. 689 IDs têm microcategoria Pagamento de fatura e descrição terminada em parcial ou minimo; 327 IDs têm algum saldo_apos&lt;0. Grupos distintos: não somar nem presumir interseção. Não há valor total/vencimento/chave de fatura. Rótulos não provam atraso, motivo ou causalidade. Dor proposta pelo usuário: Quanto mais apertado eu fico, mais caro fica sair do aperto. O ciclo de aperto e encargos é hipótese de dor, sem causalidade demonstrada no CSV. Comparar custo total das alternativas no mesmo horizonte, com condições confirmadas; na demo são projeções, não economia realizada. Registros de gasto no cartão e pagamento de fatura requerem conciliação. Arquitetura e métricas são propostas; ainda não implementadas/medidas. Recursos, fatura e condições adicionais usados na demo devem ser identificados como simulados ou confirmados. Não afirmar diferenciação já validada contra o IAI.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b085fc4af94d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a0da095c4a4b81" /><Relationship Type="http://schemas.openxmlformats.org/officeDocument/2006/relationships/slideLayout" Target="/ppt/slideLayouts/slideLayout1.xml" Id="R1127448ceb37418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aixaDeTexto 2">
            <a:extLst xmlns:a="http://schemas.openxmlformats.org/drawingml/2006/main">
              <a:ext uri="{FF2B5EF4-FFF2-40B4-BE49-F238E27FC236}">
                <a16:creationId xmlns:a16="http://schemas.microsoft.com/office/drawing/2014/main" id="{914EC37C-ED36-325A-0751-B5A983CE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" y="6657340"/>
            <a:ext cx="1042988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000000">
                    <a:alpha val="50000"/>
                  </a:srgbClr>
                </a:solidFill>
                <a:latin typeface="Aptos"/>
                <a:ea typeface="Aptos"/>
                <a:cs typeface="Aptos"/>
              </a:rPr>
              <a:t>Corporativo | Interno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27448ceb3741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Batalha de Agentes Itaú">
      <a:dk1>
        <a:srgbClr val="000000"/>
      </a:dk1>
      <a:lt1>
        <a:srgbClr val="FFFFFF"/>
      </a:lt1>
      <a:dk2>
        <a:srgbClr val="151515"/>
      </a:dk2>
      <a:lt2>
        <a:srgbClr val="F1F2F4"/>
      </a:lt2>
      <a:accent1>
        <a:srgbClr val="FF6200"/>
      </a:accent1>
      <a:accent2>
        <a:srgbClr val="FFD390"/>
      </a:accent2>
      <a:accent3>
        <a:srgbClr val="000000"/>
      </a:accent3>
      <a:accent4>
        <a:srgbClr val="B3B3B3"/>
      </a:accent4>
      <a:accent5>
        <a:srgbClr val="CFD1D3"/>
      </a:accent5>
      <a:accent6>
        <a:srgbClr val="F1F2F4"/>
      </a:accent6>
      <a:hlink>
        <a:srgbClr val="FF6200"/>
      </a:hlink>
      <a:folHlink>
        <a:srgbClr val="A63F0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atalha de Agentes Itaú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37a4bd224b48bb" /><Relationship Type="http://schemas.openxmlformats.org/officeDocument/2006/relationships/image" Target="/ppt/media/image.jpeg" Id="Rebfad283851a4427" /><Relationship Type="http://schemas.openxmlformats.org/officeDocument/2006/relationships/image" Target="/ppt/media/image.png" Id="R82cffc77e9464f9c" /><Relationship Type="http://schemas.openxmlformats.org/officeDocument/2006/relationships/notesSlide" Target="/ppt/notesSlides/notesSlide1.xml" Id="R0d09df478e474eea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bfad283851a442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tângulo 1">
            <a:extLst xmlns:a="http://schemas.openxmlformats.org/drawingml/2006/main">
              <a:ext uri="{FF2B5EF4-FFF2-40B4-BE49-F238E27FC236}">
                <a16:creationId xmlns:a16="http://schemas.microsoft.com/office/drawing/2014/main" id="{8834F6F9-5A8A-5EF8-2057-D2976FC5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Retângulo 2">
            <a:extLst xmlns:a="http://schemas.openxmlformats.org/drawingml/2006/main">
              <a:ext uri="{FF2B5EF4-FFF2-40B4-BE49-F238E27FC236}">
                <a16:creationId xmlns:a16="http://schemas.microsoft.com/office/drawing/2014/main" id="{7DADD33C-C7CD-7250-EA3F-64032E60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007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150" b="1">
                <a:solidFill>
                  <a:srgbClr val="FFFFFF"/>
                </a:solidFill>
                <a:latin typeface="Itau Display Pro XBold"/>
                <a:ea typeface="Itau Display Pro XBold"/>
                <a:cs typeface="Itau Display Pro XBold"/>
              </a:defRPr>
            </a:pPr>
            <a:r>
              <a:rPr sz="2800" b="1" i="0" u="none" cap="none" spc="0">
                <a:ln>
                  <a:noFill/>
                </a:ln>
                <a:solidFill>
                  <a:srgbClr val="FFFFFF"/>
                </a:solidFill>
                <a:latin typeface="Itau Display Pro XBold"/>
                <a:ea typeface="Itau Display Pro XBold"/>
                <a:cs typeface="Itau Display Pro XBold"/>
              </a:rPr>
              <a:t>Ficha de submissão – Parte 1 do Projeto</a:t>
            </a:r>
            <a:endParaRPr sz="2800" b="1" i="0" u="none" kern="1200" cap="none" spc="0" baseline="0">
              <a:ln>
                <a:noFill/>
              </a:ln>
              <a:solidFill>
                <a:srgbClr val="FFFFFF"/>
              </a:solidFill>
              <a:latin typeface="Itau Display Pro XBold"/>
              <a:ea typeface="Itau Display Pro XBold"/>
              <a:cs typeface="Itau Display Pro XBold"/>
            </a:endParaRPr>
          </a:p>
        </p:txBody>
      </p:sp>
      <p:pic>
        <p:nvPicPr>
          <p:cNvPr id="27" name="Imagem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cffc77e9464f9c"/>
          <a:stretch xmlns:a="http://schemas.openxmlformats.org/drawingml/2006/main"/>
        </p:blipFill>
        <p:spPr>
          <a:xfrm xmlns:a="http://schemas.openxmlformats.org/drawingml/2006/main">
            <a:off x="753268" y="6381750"/>
            <a:ext cx="836613" cy="381000"/>
          </a:xfrm>
          <a:prstGeom xmlns:a="http://schemas.openxmlformats.org/drawingml/2006/main" prst="rect">
            <a:avLst/>
          </a:prstGeom>
        </p:spPr>
      </p:pic>
      <p:sp>
        <p:nvSpPr>
          <p:cNvPr id="4" name="Retângulo: Cantos Arredondados 3">
            <a:extLst xmlns:a="http://schemas.openxmlformats.org/drawingml/2006/main">
              <a:ext uri="{FF2B5EF4-FFF2-40B4-BE49-F238E27FC236}">
                <a16:creationId xmlns:a16="http://schemas.microsoft.com/office/drawing/2014/main" id="{3D621103-5BEB-1CE4-4FB9-B8AB2517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60909"/>
            <a:ext cx="5542146" cy="4235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FF6200"/>
                </a:solidFill>
                <a:latin typeface="Itau Display Pro Black"/>
                <a:ea typeface="Itau Display Pro Black"/>
                <a:cs typeface="Itau Display Pro Black"/>
              </a:rPr>
              <a:t>Nome do Agente: Farol (provisório)</a:t>
            </a:r>
          </a:p>
        </p:txBody>
      </p:sp>
      <p:sp>
        <p:nvSpPr>
          <p:cNvPr id="5" name="Retângulo: Cantos Arredondados 4">
            <a:extLst xmlns:a="http://schemas.openxmlformats.org/drawingml/2006/main">
              <a:ext uri="{FF2B5EF4-FFF2-40B4-BE49-F238E27FC236}">
                <a16:creationId xmlns:a16="http://schemas.microsoft.com/office/drawing/2014/main" id="{F39847EA-E020-CC22-4E03-8B57F321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2667"/>
            <a:ext cx="3433233" cy="2125133"/>
          </a:xfrm>
          <a:prstGeom xmlns:a="http://schemas.openxmlformats.org/drawingml/2006/main" prst="roundRect">
            <a:avLst>
              <a:gd name="adj" fmla="val 523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  <a:latin typeface="Itau Display Pro Black"/>
                <a:ea typeface="Itau Display Pro Black"/>
                <a:cs typeface="Itau Display Pro Black"/>
              </a:rPr>
              <a:t>O Problema:</a:t>
            </a:r>
          </a:p>
          <a:p xmlns:a="http://schemas.openxmlformats.org/drawingml/2006/main"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Financiar a fatura para fechar o mês compromete a renda seguinte com encargos e dificulta sair do aperto.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Base sintética: 689 perfis com parcial/mínimo; 327 com saldo negativo.</a:t>
            </a:r>
          </a:p>
        </p:txBody>
      </p:sp>
      <p:sp>
        <p:nvSpPr>
          <p:cNvPr id="6" name="Retângulo: Cantos Arredondados 5">
            <a:extLst xmlns:a="http://schemas.openxmlformats.org/drawingml/2006/main">
              <a:ext uri="{FF2B5EF4-FFF2-40B4-BE49-F238E27FC236}">
                <a16:creationId xmlns:a16="http://schemas.microsoft.com/office/drawing/2014/main" id="{9B1026ED-678E-7C32-2BCF-5605BB66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1862668"/>
            <a:ext cx="3433233" cy="2125132"/>
          </a:xfrm>
          <a:prstGeom xmlns:a="http://schemas.openxmlformats.org/drawingml/2006/main" prst="roundRect">
            <a:avLst>
              <a:gd name="adj" fmla="val 523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  <a:latin typeface="Itau Display Pro Black"/>
                <a:ea typeface="Itau Display Pro Black"/>
                <a:cs typeface="Itau Display Pro Black"/>
              </a:rPr>
              <a:t>Momento do Usuário:</a:t>
            </a:r>
          </a:p>
          <a:p xmlns:a="http://schemas.openxmlformats.org/drawingml/2006/main"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Cliente PF com orçamento pressionado e histórico de parcial/mínimo, diante da próxima fatura.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Antes do vencimento, precisa decidir como pagar preservando o essencial.</a:t>
            </a:r>
          </a:p>
        </p:txBody>
      </p:sp>
      <p:sp>
        <p:nvSpPr>
          <p:cNvPr id="7" name="Retângulo: Cantos Arredondados 6">
            <a:extLst xmlns:a="http://schemas.openxmlformats.org/drawingml/2006/main">
              <a:ext uri="{FF2B5EF4-FFF2-40B4-BE49-F238E27FC236}">
                <a16:creationId xmlns:a16="http://schemas.microsoft.com/office/drawing/2014/main" id="{9880420B-87F5-AD5A-B054-9D138A88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1862667"/>
            <a:ext cx="3433233" cy="2125133"/>
          </a:xfrm>
          <a:prstGeom xmlns:a="http://schemas.openxmlformats.org/drawingml/2006/main" prst="roundRect">
            <a:avLst>
              <a:gd name="adj" fmla="val 523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  <a:latin typeface="Itau Display Pro Black"/>
                <a:ea typeface="Itau Display Pro Black"/>
                <a:cs typeface="Itau Display Pro Black"/>
              </a:rPr>
              <a:t>Proposta do Agente:</a:t>
            </a:r>
          </a:p>
          <a:p xmlns:a="http://schemas.openxmlformats.org/drawingml/2006/main"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Recuperar margem com um plano viável para a próxima fatura, preservando o essencial.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1. Dimensiona quanto falta.
2. Compara saídas e consequências.
3. Acompanha a ação escolhida.</a:t>
            </a:r>
          </a:p>
        </p:txBody>
      </p:sp>
      <p:sp>
        <p:nvSpPr>
          <p:cNvPr id="9" name="Retângulo: Cantos Arredondados 8">
            <a:extLst xmlns:a="http://schemas.openxmlformats.org/drawingml/2006/main">
              <a:ext uri="{FF2B5EF4-FFF2-40B4-BE49-F238E27FC236}">
                <a16:creationId xmlns:a16="http://schemas.microsoft.com/office/drawing/2014/main" id="{852AA6C4-E55A-2B6C-A18B-E9E0D8A7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84227"/>
            <a:ext cx="3433233" cy="2125133"/>
          </a:xfrm>
          <a:prstGeom xmlns:a="http://schemas.openxmlformats.org/drawingml/2006/main" prst="roundRect">
            <a:avLst>
              <a:gd name="adj" fmla="val 523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  <a:latin typeface="Itau Display Pro Black"/>
                <a:ea typeface="Itau Display Pro Black"/>
                <a:cs typeface="Itau Display Pro Black"/>
              </a:rPr>
              <a:t>Dados e tecnologia:</a:t>
            </a:r>
          </a:p>
          <a:p xmlns:a="http://schemas.openxmlformats.org/drawingml/2006/main"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Extrato → confirmar contexto → calcular cenários → orientar escolha → acompanhar plano.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ADK/Gemini + BigQuery + Cloud Run. Confirmar fatura, vencimento e condições.</a:t>
            </a:r>
          </a:p>
        </p:txBody>
      </p:sp>
      <p:sp>
        <p:nvSpPr>
          <p:cNvPr id="10" name="Retângulo: Cantos Arredondados 9">
            <a:extLst xmlns:a="http://schemas.openxmlformats.org/drawingml/2006/main">
              <a:ext uri="{FF2B5EF4-FFF2-40B4-BE49-F238E27FC236}">
                <a16:creationId xmlns:a16="http://schemas.microsoft.com/office/drawing/2014/main" id="{39E7D8D3-AA05-11F1-70CC-B86D4136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4184228"/>
            <a:ext cx="3433233" cy="2125132"/>
          </a:xfrm>
          <a:prstGeom xmlns:a="http://schemas.openxmlformats.org/drawingml/2006/main" prst="roundRect">
            <a:avLst>
              <a:gd name="adj" fmla="val 523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  <a:latin typeface="Itau Display Pro Black"/>
                <a:ea typeface="Itau Display Pro Black"/>
                <a:cs typeface="Itau Display Pro Black"/>
              </a:rPr>
              <a:t>Como mediremos valor:</a:t>
            </a:r>
          </a:p>
          <a:p xmlns:a="http://schemas.openxmlformats.org/drawingml/2006/main"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Valor a financiar e custo projetado; ações concluídas; compreensão; recorrência do parcial/mínimo.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Demo compara cenários. Piloto mede resultados observados.</a:t>
            </a:r>
          </a:p>
        </p:txBody>
      </p:sp>
      <p:sp>
        <p:nvSpPr>
          <p:cNvPr id="11" name="Retângulo: Cantos Arredondados 10">
            <a:extLst xmlns:a="http://schemas.openxmlformats.org/drawingml/2006/main">
              <a:ext uri="{FF2B5EF4-FFF2-40B4-BE49-F238E27FC236}">
                <a16:creationId xmlns:a16="http://schemas.microsoft.com/office/drawing/2014/main" id="{B9683534-50E7-B1FF-A8A8-25E2C488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4184227"/>
            <a:ext cx="3433233" cy="2125133"/>
          </a:xfrm>
          <a:prstGeom xmlns:a="http://schemas.openxmlformats.org/drawingml/2006/main" prst="roundRect">
            <a:avLst>
              <a:gd name="adj" fmla="val 523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  <a:latin typeface="Itau Display Pro Black"/>
                <a:ea typeface="Itau Display Pro Black"/>
                <a:cs typeface="Itau Display Pro Black"/>
              </a:rPr>
              <a:t>Escopo da Demo:</a:t>
            </a:r>
          </a:p>
          <a:p xmlns:a="http://schemas.openxmlformats.org/drawingml/2006/main"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Uma pessoa, uma fatura: confirma contexto → compara duas saídas → escolhe ação → acompanha plano.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Dados e condições simulados, identificados. Sem contratação ou pagamento real.</a:t>
            </a:r>
          </a:p>
        </p:txBody>
      </p:sp>
      <p:sp>
        <p:nvSpPr>
          <p:cNvPr id="23" name="Retângulo: Cantos Arredondados 22">
            <a:extLst xmlns:a="http://schemas.openxmlformats.org/drawingml/2006/main">
              <a:ext uri="{FF2B5EF4-FFF2-40B4-BE49-F238E27FC236}">
                <a16:creationId xmlns:a16="http://schemas.microsoft.com/office/drawing/2014/main" id="{20E92CF2-1957-367F-AFA3-C447D8E1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1629" y="1260909"/>
            <a:ext cx="4933704" cy="4235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FF6200"/>
                </a:solidFill>
                <a:latin typeface="Itau Display Pro Black"/>
                <a:ea typeface="Itau Display Pro Black"/>
                <a:cs typeface="Itau Display Pro Black"/>
              </a:rPr>
              <a:t>Equipe: Time 05</a:t>
            </a:r>
          </a:p>
        </p:txBody>
      </p:sp>
    </p:spTree>
    <p:extLst>
      <p:ext uri="{BB962C8B-B14F-4D97-AF65-F5344CB8AC3E}">
        <p14:creationId xmlns:p14="http://schemas.microsoft.com/office/powerpoint/2010/main" val="3073358549"/>
      </p:ext>
    </p:extLst>
  </p:cSld>
</p:sld>
</file>

<file path=ppt/theme/theme1.xml><?xml version="1.0" encoding="utf-8"?>
<a:theme xmlns:a="http://schemas.openxmlformats.org/drawingml/2006/main" name="ChatGPT">
  <a:themeElements>
    <a:clrScheme name="Batalha de Agentes Itaú">
      <a:dk1>
        <a:srgbClr val="000000"/>
      </a:dk1>
      <a:lt1>
        <a:srgbClr val="FFFFFF"/>
      </a:lt1>
      <a:dk2>
        <a:srgbClr val="151515"/>
      </a:dk2>
      <a:lt2>
        <a:srgbClr val="F1F2F4"/>
      </a:lt2>
      <a:accent1>
        <a:srgbClr val="FF6200"/>
      </a:accent1>
      <a:accent2>
        <a:srgbClr val="FFD390"/>
      </a:accent2>
      <a:accent3>
        <a:srgbClr val="000000"/>
      </a:accent3>
      <a:accent4>
        <a:srgbClr val="B3B3B3"/>
      </a:accent4>
      <a:accent5>
        <a:srgbClr val="CFD1D3"/>
      </a:accent5>
      <a:accent6>
        <a:srgbClr val="F1F2F4"/>
      </a:accent6>
      <a:hlink>
        <a:srgbClr val="FF6200"/>
      </a:hlink>
      <a:folHlink>
        <a:srgbClr val="A63F0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atalha de Agentes Itaú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2026-09-26T15:49:43.1470000Z</dcterms:created>
  <dcterms:modified xsi:type="dcterms:W3CDTF">2026-09-26T15:49:43.1470000Z</dcterms:modified>
</coreProperties>
</file>