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694ede49ff4104" /><Relationship Type="http://schemas.openxmlformats.org/officeDocument/2006/relationships/extended-properties" Target="/docProps/app.xml" Id="R752662be7d00435c" /><Relationship Type="http://schemas.openxmlformats.org/officeDocument/2006/relationships/officeDocument" Target="/ppt/presentation.xml" Id="Rdf49826bf04544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b1086712db4193"/>
  </p:sldMasterIdLst>
  <p:notesMasterIdLst>
    <p:notesMasterId xmlns:r="http://schemas.openxmlformats.org/officeDocument/2006/relationships" r:id="R0e3eabbfaebd44d6"/>
  </p:notesMasterIdLst>
  <p:sldIdLst>
    <p:sldId xmlns:r="http://schemas.openxmlformats.org/officeDocument/2006/relationships" id="256" r:id="R5faebe595b4e4af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08a6efbc32433b" /><Relationship Type="http://schemas.openxmlformats.org/officeDocument/2006/relationships/slideMaster" Target="/ppt/slideMasters/slideMaster1.xml" Id="R9db1086712db4193" /><Relationship Type="http://schemas.openxmlformats.org/officeDocument/2006/relationships/notesMaster" Target="/ppt/notesMasters/notesMaster1.xml" Id="R0e3eabbfaebd44d6" /><Relationship Type="http://schemas.openxmlformats.org/officeDocument/2006/relationships/presProps" Target="/ppt/presProps.xml" Id="R1fb4e07e4eb94a08" /><Relationship Type="http://schemas.openxmlformats.org/officeDocument/2006/relationships/viewProps" Target="/ppt/viewProps.xml" Id="R923481df864043bc" /><Relationship Type="http://schemas.openxmlformats.org/officeDocument/2006/relationships/tableStyles" Target="/ppt/tableStyles.xml" Id="R8af1cc7d3efc41fe" /><Relationship Type="http://schemas.openxmlformats.org/officeDocument/2006/relationships/slide" Target="/ppt/slides/slide1.xml" Id="R5faebe595b4e4a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9d61166cfd40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Batalha de Agentes Itaú">
      <a:dk1>
        <a:srgbClr val="000000"/>
      </a:dk1>
      <a:lt1>
        <a:srgbClr val="FFFFFF"/>
      </a:lt1>
      <a:dk2>
        <a:srgbClr val="151515"/>
      </a:dk2>
      <a:lt2>
        <a:srgbClr val="F1F2F4"/>
      </a:lt2>
      <a:accent1>
        <a:srgbClr val="FF6200"/>
      </a:accent1>
      <a:accent2>
        <a:srgbClr val="FFD390"/>
      </a:accent2>
      <a:accent3>
        <a:srgbClr val="000000"/>
      </a:accent3>
      <a:accent4>
        <a:srgbClr val="B3B3B3"/>
      </a:accent4>
      <a:accent5>
        <a:srgbClr val="CFD1D3"/>
      </a:accent5>
      <a:accent6>
        <a:srgbClr val="F1F2F4"/>
      </a:accent6>
      <a:hlink>
        <a:srgbClr val="FF6200"/>
      </a:hlink>
      <a:folHlink>
        <a:srgbClr val="A63F0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atalha de Agentes Itaú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c3f7bb7d864e85" /><Relationship Type="http://schemas.openxmlformats.org/officeDocument/2006/relationships/notesMaster" Target="/ppt/notesMasters/notesMaster1.xml" Id="R55054e31dac349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Rascunho para validação do Time 05. Base: batalha-time-05-xew3.hackathon_dados.extrato_sintetico; contagens obtidas em 26/09/2026 por COUNTIF(parcela_total &gt; 1) e COUNTIF(saldo_apos &lt; 0). Os números são de lançamentos, não de pessoas. Diretriz de educação financeira: Resolução Conjunta BCB/CMN nº 8, https://www.bcb.gov.br/estabilidadefinanceira/exibenormativo?numero=8&amp;tipo=Resolu%C3%A7%C3%A3o%2520Conjunta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682728ef8248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3a983a77754891" /><Relationship Type="http://schemas.openxmlformats.org/officeDocument/2006/relationships/slideLayout" Target="/ppt/slideLayouts/slideLayout1.xml" Id="Rdec0a60af2254e8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aixaDeTexto 2">
            <a:extLst xmlns:a="http://schemas.openxmlformats.org/drawingml/2006/main">
              <a:ext uri="{FF2B5EF4-FFF2-40B4-BE49-F238E27FC236}">
                <a16:creationId xmlns:a16="http://schemas.microsoft.com/office/drawing/2014/main" id="{914EC37C-ED36-325A-0751-B5A983CE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" y="6657340"/>
            <a:ext cx="1042988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solidFill>
                  <a:srgbClr val="000000">
                    <a:alpha val="50000"/>
                  </a:srgbClr>
                </a:solidFill>
                <a:latin typeface="Aptos"/>
                <a:ea typeface="Aptos"/>
                <a:cs typeface="Aptos"/>
              </a:rPr>
              <a:t>Corporativo | Interno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c0a60af2254e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Batalha de Agentes Itaú">
      <a:dk1>
        <a:srgbClr val="000000"/>
      </a:dk1>
      <a:lt1>
        <a:srgbClr val="FFFFFF"/>
      </a:lt1>
      <a:dk2>
        <a:srgbClr val="151515"/>
      </a:dk2>
      <a:lt2>
        <a:srgbClr val="F1F2F4"/>
      </a:lt2>
      <a:accent1>
        <a:srgbClr val="FF6200"/>
      </a:accent1>
      <a:accent2>
        <a:srgbClr val="FFD390"/>
      </a:accent2>
      <a:accent3>
        <a:srgbClr val="000000"/>
      </a:accent3>
      <a:accent4>
        <a:srgbClr val="B3B3B3"/>
      </a:accent4>
      <a:accent5>
        <a:srgbClr val="CFD1D3"/>
      </a:accent5>
      <a:accent6>
        <a:srgbClr val="F1F2F4"/>
      </a:accent6>
      <a:hlink>
        <a:srgbClr val="FF6200"/>
      </a:hlink>
      <a:folHlink>
        <a:srgbClr val="A63F0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atalha de Agentes Itaú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e0c59303f4ed1" /><Relationship Type="http://schemas.openxmlformats.org/officeDocument/2006/relationships/image" Target="/ppt/media/image.jpeg" Id="Rfbe7825ea9cb4fbb" /><Relationship Type="http://schemas.openxmlformats.org/officeDocument/2006/relationships/image" Target="/ppt/media/image.png" Id="R4f6e72818a3446bf" /><Relationship Type="http://schemas.openxmlformats.org/officeDocument/2006/relationships/notesSlide" Target="/ppt/notesSlides/notesSlide1.xml" Id="R2892bd1384a84c73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be7825ea9cb4fbb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tângulo 1">
            <a:extLst xmlns:a="http://schemas.openxmlformats.org/drawingml/2006/main">
              <a:ext uri="{FF2B5EF4-FFF2-40B4-BE49-F238E27FC236}">
                <a16:creationId xmlns:a16="http://schemas.microsoft.com/office/drawing/2014/main" id="{8834F6F9-5A8A-5EF8-2057-D2976FC5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Retângulo 2">
            <a:extLst xmlns:a="http://schemas.openxmlformats.org/drawingml/2006/main">
              <a:ext uri="{FF2B5EF4-FFF2-40B4-BE49-F238E27FC236}">
                <a16:creationId xmlns:a16="http://schemas.microsoft.com/office/drawing/2014/main" id="{7DADD33C-C7CD-7250-EA3F-64032E60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007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150" b="1">
                <a:solidFill>
                  <a:srgbClr val="FFFFFF"/>
                </a:solidFill>
                <a:latin typeface="Itau Display Pro XBold"/>
                <a:ea typeface="Itau Display Pro XBold"/>
                <a:cs typeface="Itau Display Pro XBold"/>
              </a:defRPr>
            </a:pPr>
            <a:r>
              <a:rPr sz="2800" b="1" i="0" u="none" cap="none" spc="0">
                <a:ln>
                  <a:noFill/>
                </a:ln>
                <a:solidFill>
                  <a:srgbClr val="FFFFFF"/>
                </a:solidFill>
                <a:latin typeface="Itau Display Pro XBold"/>
                <a:ea typeface="Itau Display Pro XBold"/>
                <a:cs typeface="Itau Display Pro XBold"/>
              </a:rPr>
              <a:t>Ficha de submissão – Parte 1 do Projeto</a:t>
            </a:r>
            <a:endParaRPr sz="2800" b="1" i="0" u="none" kern="1200" cap="none" spc="0" baseline="0">
              <a:ln>
                <a:noFill/>
              </a:ln>
              <a:solidFill>
                <a:srgbClr val="FFFFFF"/>
              </a:solidFill>
              <a:latin typeface="Itau Display Pro XBold"/>
              <a:ea typeface="Itau Display Pro XBold"/>
              <a:cs typeface="Itau Display Pro XBold"/>
            </a:endParaRPr>
          </a:p>
        </p:txBody>
      </p:sp>
      <p:pic>
        <p:nvPicPr>
          <p:cNvPr id="27" name="Imagem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6e72818a3446bf"/>
          <a:stretch xmlns:a="http://schemas.openxmlformats.org/drawingml/2006/main"/>
        </p:blipFill>
        <p:spPr>
          <a:xfrm xmlns:a="http://schemas.openxmlformats.org/drawingml/2006/main">
            <a:off x="753268" y="6381750"/>
            <a:ext cx="836613" cy="381000"/>
          </a:xfrm>
          <a:prstGeom xmlns:a="http://schemas.openxmlformats.org/drawingml/2006/main" prst="rect">
            <a:avLst/>
          </a:prstGeom>
        </p:spPr>
      </p:pic>
      <p:sp>
        <p:nvSpPr>
          <p:cNvPr id="4" name="Retângulo: Cantos Arredondados 3">
            <a:extLst xmlns:a="http://schemas.openxmlformats.org/drawingml/2006/main">
              <a:ext uri="{FF2B5EF4-FFF2-40B4-BE49-F238E27FC236}">
                <a16:creationId xmlns:a16="http://schemas.microsoft.com/office/drawing/2014/main" id="{3D621103-5BEB-1CE4-4FB9-B8AB2517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60909"/>
            <a:ext cx="5542146" cy="4235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FF6200"/>
                </a:solidFill>
                <a:latin typeface="Itau Display Pro Black"/>
                <a:ea typeface="Itau Display Pro Black"/>
                <a:cs typeface="Itau Display Pro Black"/>
              </a:rPr>
              <a:t>Nome do Agente: Cabe no Mês</a:t>
            </a:r>
          </a:p>
        </p:txBody>
      </p:sp>
      <p:sp>
        <p:nvSpPr>
          <p:cNvPr id="5" name="Retângulo: Cantos Arredondados 4">
            <a:extLst xmlns:a="http://schemas.openxmlformats.org/drawingml/2006/main">
              <a:ext uri="{FF2B5EF4-FFF2-40B4-BE49-F238E27FC236}">
                <a16:creationId xmlns:a16="http://schemas.microsoft.com/office/drawing/2014/main" id="{F39847EA-E020-CC22-4E03-8B57F321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2667"/>
            <a:ext cx="3433233" cy="2125133"/>
          </a:xfrm>
          <a:prstGeom xmlns:a="http://schemas.openxmlformats.org/drawingml/2006/main" prst="roundRect">
            <a:avLst>
              <a:gd name="adj" fmla="val 523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000000"/>
                </a:solidFill>
                <a:latin typeface="Itau Display Pro Black"/>
                <a:ea typeface="Itau Display Pro Black"/>
                <a:cs typeface="Itau Display Pro Black"/>
              </a:rPr>
              <a:t>O Problema: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Parcelas ocultam pressão sobre contas futuras.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Itau Display Pro"/>
              <a:ea typeface="Itau Display Pro"/>
              <a:cs typeface="Itau Display Pro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Na base sintética:</a:t>
            </a:r>
            <a:br/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29.847 lançamentos parcelados; 56.141 com saldo negativo.</a:t>
            </a:r>
          </a:p>
        </p:txBody>
      </p:sp>
      <p:sp>
        <p:nvSpPr>
          <p:cNvPr id="6" name="Retângulo: Cantos Arredondados 5">
            <a:extLst xmlns:a="http://schemas.openxmlformats.org/drawingml/2006/main">
              <a:ext uri="{FF2B5EF4-FFF2-40B4-BE49-F238E27FC236}">
                <a16:creationId xmlns:a16="http://schemas.microsoft.com/office/drawing/2014/main" id="{9B1026ED-678E-7C32-2BCF-5605BB66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1862668"/>
            <a:ext cx="3433233" cy="2125132"/>
          </a:xfrm>
          <a:prstGeom xmlns:a="http://schemas.openxmlformats.org/drawingml/2006/main" prst="roundRect">
            <a:avLst>
              <a:gd name="adj" fmla="val 523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000000"/>
                </a:solidFill>
                <a:latin typeface="Itau Display Pro Black"/>
                <a:ea typeface="Itau Display Pro Black"/>
                <a:cs typeface="Itau Display Pro Black"/>
              </a:rPr>
              <a:t>Momento do Usuário: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Cliente considera uma compra em 12x.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Itau Display Pro"/>
              <a:ea typeface="Itau Display Pro"/>
              <a:cs typeface="Itau Display Pro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Contexto: </a:t>
            </a:r>
            <a:br/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Usa o extrato e informa preço e condições.</a:t>
            </a:r>
          </a:p>
        </p:txBody>
      </p:sp>
      <p:sp>
        <p:nvSpPr>
          <p:cNvPr id="7" name="Retângulo: Cantos Arredondados 6">
            <a:extLst xmlns:a="http://schemas.openxmlformats.org/drawingml/2006/main">
              <a:ext uri="{FF2B5EF4-FFF2-40B4-BE49-F238E27FC236}">
                <a16:creationId xmlns:a16="http://schemas.microsoft.com/office/drawing/2014/main" id="{9880420B-87F5-AD5A-B054-9D138A88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1862667"/>
            <a:ext cx="3433233" cy="2125133"/>
          </a:xfrm>
          <a:prstGeom xmlns:a="http://schemas.openxmlformats.org/drawingml/2006/main" prst="roundRect">
            <a:avLst>
              <a:gd name="adj" fmla="val 523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000000"/>
                </a:solidFill>
                <a:latin typeface="Itau Display Pro Black"/>
                <a:ea typeface="Itau Display Pro Black"/>
                <a:cs typeface="Itau Display Pro Black"/>
              </a:rPr>
              <a:t>Proposta do Agente: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Mostra se a nova parcela cabe nos meses seguintes.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Itau Display Pro"/>
              <a:ea typeface="Itau Display Pro"/>
              <a:cs typeface="Itau Display Pro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Três capacidades: </a:t>
            </a:r>
            <a:br/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Detecta compromissos; simula; explica alternativas.</a:t>
            </a:r>
          </a:p>
        </p:txBody>
      </p:sp>
      <p:sp>
        <p:nvSpPr>
          <p:cNvPr id="9" name="Retângulo: Cantos Arredondados 8">
            <a:extLst xmlns:a="http://schemas.openxmlformats.org/drawingml/2006/main">
              <a:ext uri="{FF2B5EF4-FFF2-40B4-BE49-F238E27FC236}">
                <a16:creationId xmlns:a16="http://schemas.microsoft.com/office/drawing/2014/main" id="{852AA6C4-E55A-2B6C-A18B-E9E0D8A7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84227"/>
            <a:ext cx="3433233" cy="2125133"/>
          </a:xfrm>
          <a:prstGeom xmlns:a="http://schemas.openxmlformats.org/drawingml/2006/main" prst="roundRect">
            <a:avLst>
              <a:gd name="adj" fmla="val 523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000000"/>
                </a:solidFill>
                <a:latin typeface="Itau Display Pro Black"/>
                <a:ea typeface="Itau Display Pro Black"/>
                <a:cs typeface="Itau Display Pro Black"/>
              </a:rPr>
              <a:t>Dados e tecnologia:</a:t>
            </a:r>
            <a:br/>
            <a:r>
              <a:rPr sz="1600" b="0" i="0" u="none" cap="none" spc="0">
                <a:ln>
                  <a:noFill/>
                </a:ln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BigQuery → cálculo de margem → Gemini → Cloud Run.</a:t>
            </a:r>
            <a:br/>
            <a:endParaRPr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Itau Display Pro"/>
              <a:ea typeface="Itau Display Pro"/>
              <a:cs typeface="Itau Display Pro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Fontes: </a:t>
            </a:r>
            <a:br/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Extrato + oferta informada; sem taxa inventada.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Itau Display Pro Black"/>
              <a:ea typeface="Itau Display Pro Black"/>
              <a:cs typeface="Itau Display Pro Black"/>
            </a:endParaRPr>
          </a:p>
        </p:txBody>
      </p:sp>
      <p:sp>
        <p:nvSpPr>
          <p:cNvPr id="10" name="Retângulo: Cantos Arredondados 9">
            <a:extLst xmlns:a="http://schemas.openxmlformats.org/drawingml/2006/main">
              <a:ext uri="{FF2B5EF4-FFF2-40B4-BE49-F238E27FC236}">
                <a16:creationId xmlns:a16="http://schemas.microsoft.com/office/drawing/2014/main" id="{39E7D8D3-AA05-11F1-70CC-B86D4136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4184228"/>
            <a:ext cx="3433233" cy="2125132"/>
          </a:xfrm>
          <a:prstGeom xmlns:a="http://schemas.openxmlformats.org/drawingml/2006/main" prst="roundRect">
            <a:avLst>
              <a:gd name="adj" fmla="val 523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000000"/>
                </a:solidFill>
                <a:latin typeface="Itau Display Pro Black"/>
                <a:ea typeface="Itau Display Pro Black"/>
                <a:cs typeface="Itau Display Pro Black"/>
              </a:rPr>
              <a:t>Como mediremos valor:</a:t>
            </a:r>
            <a:br/>
            <a:r>
              <a:rPr sz="1600" b="0" i="0" u="none" cap="none" spc="0">
                <a:ln>
                  <a:noFill/>
                </a:ln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Cliente entende e escolhe uma alternativa segura.</a:t>
            </a:r>
            <a:br/>
            <a:endParaRPr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Itau Display Pro"/>
              <a:ea typeface="Itau Display Pro"/>
              <a:cs typeface="Itau Display Pro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Sinais no piloto: </a:t>
            </a:r>
            <a:br/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Compreensão; decisão; parcelas de risco evitadas; utilidade.</a:t>
            </a:r>
          </a:p>
        </p:txBody>
      </p:sp>
      <p:sp>
        <p:nvSpPr>
          <p:cNvPr id="11" name="Retângulo: Cantos Arredondados 10">
            <a:extLst xmlns:a="http://schemas.openxmlformats.org/drawingml/2006/main">
              <a:ext uri="{FF2B5EF4-FFF2-40B4-BE49-F238E27FC236}">
                <a16:creationId xmlns:a16="http://schemas.microsoft.com/office/drawing/2014/main" id="{B9683534-50E7-B1FF-A8A8-25E2C488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4184227"/>
            <a:ext cx="3433233" cy="2125133"/>
          </a:xfrm>
          <a:prstGeom xmlns:a="http://schemas.openxmlformats.org/drawingml/2006/main" prst="roundRect">
            <a:avLst>
              <a:gd name="adj" fmla="val 523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000000"/>
                </a:solidFill>
                <a:latin typeface="Itau Display Pro Black"/>
                <a:ea typeface="Itau Display Pro Black"/>
                <a:cs typeface="Itau Display Pro Black"/>
              </a:rPr>
              <a:t>Escopo da Demo</a:t>
            </a:r>
            <a:br/>
            <a:r>
              <a:rPr sz="1600" b="0" i="0" u="none" cap="none" spc="0">
                <a:ln>
                  <a:noFill/>
                </a:ln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Celular em 12x: histórico → simulação → orientação.</a:t>
            </a:r>
            <a:br/>
            <a:endParaRPr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Itau Display Pro"/>
              <a:ea typeface="Itau Display Pro"/>
              <a:cs typeface="Itau Display Pro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Limites: </a:t>
            </a:r>
            <a:br/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Sem contratação, CET presumido ou saldo em tempo real.</a:t>
            </a:r>
          </a:p>
        </p:txBody>
      </p:sp>
      <p:sp>
        <p:nvSpPr>
          <p:cNvPr id="23" name="Retângulo: Cantos Arredondados 22">
            <a:extLst xmlns:a="http://schemas.openxmlformats.org/drawingml/2006/main">
              <a:ext uri="{FF2B5EF4-FFF2-40B4-BE49-F238E27FC236}">
                <a16:creationId xmlns:a16="http://schemas.microsoft.com/office/drawing/2014/main" id="{20E92CF2-1957-367F-AFA3-C447D8E1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1629" y="1260909"/>
            <a:ext cx="4933704" cy="4235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FF6200"/>
                </a:solidFill>
                <a:latin typeface="Itau Display Pro Black"/>
                <a:ea typeface="Itau Display Pro Black"/>
                <a:cs typeface="Itau Display Pro Black"/>
              </a:rPr>
              <a:t>Equipe: Time 05</a:t>
            </a:r>
          </a:p>
        </p:txBody>
      </p:sp>
    </p:spTree>
    <p:extLst>
      <p:ext uri="{BB962C8B-B14F-4D97-AF65-F5344CB8AC3E}">
        <p14:creationId xmlns:p14="http://schemas.microsoft.com/office/powerpoint/2010/main" val="3073358549"/>
      </p:ext>
    </p:extLst>
  </p:cSld>
</p:sld>
</file>

<file path=ppt/theme/theme1.xml><?xml version="1.0" encoding="utf-8"?>
<a:theme xmlns:a="http://schemas.openxmlformats.org/drawingml/2006/main" name="ChatGPT">
  <a:themeElements>
    <a:clrScheme name="Batalha de Agentes Itaú">
      <a:dk1>
        <a:srgbClr val="000000"/>
      </a:dk1>
      <a:lt1>
        <a:srgbClr val="FFFFFF"/>
      </a:lt1>
      <a:dk2>
        <a:srgbClr val="151515"/>
      </a:dk2>
      <a:lt2>
        <a:srgbClr val="F1F2F4"/>
      </a:lt2>
      <a:accent1>
        <a:srgbClr val="FF6200"/>
      </a:accent1>
      <a:accent2>
        <a:srgbClr val="FFD390"/>
      </a:accent2>
      <a:accent3>
        <a:srgbClr val="000000"/>
      </a:accent3>
      <a:accent4>
        <a:srgbClr val="B3B3B3"/>
      </a:accent4>
      <a:accent5>
        <a:srgbClr val="CFD1D3"/>
      </a:accent5>
      <a:accent6>
        <a:srgbClr val="F1F2F4"/>
      </a:accent6>
      <a:hlink>
        <a:srgbClr val="FF6200"/>
      </a:hlink>
      <a:folHlink>
        <a:srgbClr val="A63F0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atalha de Agentes Itaú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2026-09-26T15:06:36.9190000Z</dcterms:created>
  <dcterms:modified xsi:type="dcterms:W3CDTF">2026-09-26T15:06:36.9190000Z</dcterms:modified>
</coreProperties>
</file>