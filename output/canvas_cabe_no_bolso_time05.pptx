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3ea657f0d194e69" Type="http://schemas.openxmlformats.org/package/2006/relationships/metadata/core-properties" Target="docProps/core.xml"/><Relationship Id="R8b593c8e9bb04672" Type="http://schemas.openxmlformats.org/officeDocument/2006/relationships/extended-properties" Target="docProps/app.xml"/><Relationship Id="Rd4f7f65f51b7410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3ef13e4aac4206"/>
  </p:sldMasterIdLst>
  <p:notesMasterIdLst>
    <p:notesMasterId xmlns:r="http://schemas.openxmlformats.org/officeDocument/2006/relationships" r:id="Recc4420cfeac4f30"/>
  </p:notesMasterIdLst>
  <p:sldIdLst>
    <p:sldId xmlns:r="http://schemas.openxmlformats.org/officeDocument/2006/relationships" id="256" r:id="R9cd7b9ea5caa48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598cbc9f6ac24869" Type="http://schemas.openxmlformats.org/officeDocument/2006/relationships/viewProps" Target="viewProps.xml"/><Relationship Id="R6ab877c7c10f4150" Type="http://schemas.openxmlformats.org/officeDocument/2006/relationships/tableStyles" Target="tableStyles.xml"/><Relationship Id="R7d3ef13e4aac4206" Type="http://schemas.openxmlformats.org/officeDocument/2006/relationships/slideMaster" Target="slideMasters/slideMaster1.xml"/><Relationship Id="R9cd7b9ea5caa4875" Type="http://schemas.openxmlformats.org/officeDocument/2006/relationships/slide" Target="slides/slide1.xml"/><Relationship Id="Rcd93fc696321459e" Type="http://schemas.openxmlformats.org/officeDocument/2006/relationships/theme" Target="theme/theme1.xml"/><Relationship Id="Recc4420cfeac4f30" Type="http://schemas.openxmlformats.org/officeDocument/2006/relationships/notesMaster" Target="notesMasters/notesMaster1.xml"/><Relationship Id="Rf1d5a5c6cba7449f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16f16fca1fee4fb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c8b637fd82b42ee" Type="http://schemas.openxmlformats.org/officeDocument/2006/relationships/slide" Target="../slides/slide1.xml"/><Relationship Id="Re748d636a0834dc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síntese para o Time 05, não decisão formal da equipe. Nome de trabalho NEO, na direção de heróis/Matrix solicitada por Maná. Assinatura: Seu próximo passo para sair do aperto. Fonte: transcrição pausada Solution planning for well-being, 26/09/2026 11h32, https://notes.granola.ai/d/e76330ae-b201-4aed-a503-b4a6ac5f5e79. CSV local: extrato_sintetico.csv.gz, 467.585 linhas, 1.000 IDs, ano 2025. 689 IDs têm microcategoria Pagamento de fatura e descrição terminada em parcial ou minimo; 327 IDs têm algum saldo_apos&lt;0. Grupos distintos: não somar nem presumir interseção. Não há valor total/vencimento/chave de fatura. Rótulos não provam atraso, motivo ou causalidade. Dor proposta pelo usuário: Quanto mais apertado eu fico, mais caro fica sair do aperto. O ciclo de aperto e encargos é hipótese de dor, sem causalidade demonstrada no CSV. Comparar custo total das alternativas no mesmo horizonte, com condições confirmadas; na demo são projeções, não economia realizada. Registros de gasto no cartão e pagamento de fatura requerem conciliação. Arquitetura e métricas são propostas; ainda não implementadas/medidas. Recursos, fatura e condições adicionais usados na demo devem ser identificados como simulados ou confirmados. Não afirmar diferenciação já validada contra o IAI.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e8076cc729045b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d1bf0aae3a24b77" Type="http://schemas.openxmlformats.org/officeDocument/2006/relationships/theme" Target="theme/theme2.xml"/><Relationship Id="Rcc4683d4a22c4e7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aixaDeTexto 2">
            <a:extLst xmlns:a="http://schemas.openxmlformats.org/drawingml/2006/main">
              <a:ext uri="{FF2B5EF4-FFF2-40B4-BE49-F238E27FC236}">
                <a16:creationId xmlns:a16="http://schemas.microsoft.com/office/drawing/2014/main" id="{914EC37C-ED36-325A-0751-B5A983CE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57340"/>
            <a:ext cx="1042988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Corporativo |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683d4a22c4e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614d4df6dbb4d34" Type="http://schemas.openxmlformats.org/officeDocument/2006/relationships/notesSlide" Target="../notesSlides/notesSlide1.xml"/><Relationship Id="R9cb7fecf5acd4550" Type="http://schemas.openxmlformats.org/officeDocument/2006/relationships/image" Target="../media/image.jpeg"/><Relationship Id="Rd4160ebdeedd4f6f" Type="http://schemas.openxmlformats.org/officeDocument/2006/relationships/image" Target="../media/image.png"/><Relationship Id="Rfedca5a81ac843a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cb7fecf5acd455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8834F6F9-5A8A-5EF8-2057-D2976FC5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7DADD33C-C7CD-7250-EA3F-64032E60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defRPr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rPr>
              <a:t>Ficha de submissão – Parte 1 do Projeto</a:t>
            </a:r>
            <a:endParaRPr sz="2800" b="1" i="0" u="none" kern="1200" cap="none" spc="0" baseline="0">
              <a:ln>
                <a:noFill/>
              </a:ln>
              <a:solidFill>
                <a:srgbClr val="FFFFFF"/>
              </a:solidFill>
              <a:latin typeface="Itau Display Pro XBold"/>
              <a:ea typeface="Itau Display Pro XBold"/>
              <a:cs typeface="Itau Display Pro XBold"/>
            </a:endParaRPr>
          </a:p>
        </p:txBody>
      </p:sp>
      <p:pic>
        <p:nvPicPr>
          <p:cNvPr id="27" name="Imagem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60ebdeedd4f6f"/>
          <a:stretch xmlns:a="http://schemas.openxmlformats.org/drawingml/2006/main"/>
        </p:blipFill>
        <p:spPr>
          <a:xfrm xmlns:a="http://schemas.openxmlformats.org/drawingml/2006/main">
            <a:off x="753268" y="6381750"/>
            <a:ext cx="836613" cy="381000"/>
          </a:xfrm>
          <a:prstGeom xmlns:a="http://schemas.openxmlformats.org/drawingml/2006/main" prst="rect">
            <a:avLst/>
          </a:prstGeom>
        </p:spPr>
      </p:pic>
      <p:sp>
        <p:nvSpPr>
          <p:cNvPr id="4" name="Retângulo: Cantos Arredondados 3">
            <a:extLst xmlns:a="http://schemas.openxmlformats.org/drawingml/2006/main">
              <a:ext uri="{FF2B5EF4-FFF2-40B4-BE49-F238E27FC236}">
                <a16:creationId xmlns:a16="http://schemas.microsoft.com/office/drawing/2014/main" id="{3D621103-5BEB-1CE4-4FB9-B8AB251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0909"/>
            <a:ext cx="5542146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Nome do Agente: Cabe no Bolso</a:t>
            </a:r>
          </a:p>
        </p:txBody>
      </p:sp>
      <p:sp>
        <p:nvSpPr>
          <p:cNvPr id="5" name="Retângulo: Cantos Arredondados 4">
            <a:extLst xmlns:a="http://schemas.openxmlformats.org/drawingml/2006/main">
              <a:ext uri="{FF2B5EF4-FFF2-40B4-BE49-F238E27FC236}">
                <a16:creationId xmlns:a16="http://schemas.microsoft.com/office/drawing/2014/main" id="{F39847EA-E020-CC22-4E03-8B57F32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O Problema: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Financiar a fatura para fechar o mês compromete a renda seguinte com encargos e dificulta sair do aperto.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Base sintética: 689 perfis com parcial/mínimo; 327 com saldo negativo.</a:t>
            </a:r>
          </a:p>
        </p:txBody>
      </p:sp>
      <p:sp>
        <p:nvSpPr>
          <p:cNvPr id="6" name="Retângulo: Cantos Arredondados 5">
            <a:extLst xmlns:a="http://schemas.openxmlformats.org/drawingml/2006/main">
              <a:ext uri="{FF2B5EF4-FFF2-40B4-BE49-F238E27FC236}">
                <a16:creationId xmlns:a16="http://schemas.microsoft.com/office/drawing/2014/main" id="{9B1026ED-678E-7C32-2BCF-5605BB66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6266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Momento do Usuário: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Cliente PF com orçamento pressionado e histórico de parcial/mínimo, diante da próxima fatura.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Antes do vencimento, precisa decidir como pagar preservando o essencial.</a:t>
            </a:r>
          </a:p>
        </p:txBody>
      </p:sp>
      <p:sp>
        <p:nvSpPr>
          <p:cNvPr id="7" name="Retângulo: Cantos Arredondados 6">
            <a:extLst xmlns:a="http://schemas.openxmlformats.org/drawingml/2006/main">
              <a:ext uri="{FF2B5EF4-FFF2-40B4-BE49-F238E27FC236}">
                <a16:creationId xmlns:a16="http://schemas.microsoft.com/office/drawing/2014/main" id="{9880420B-87F5-AD5A-B054-9D138A8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Proposta do Agente: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Recuperar margem com um plano viável para a próxima fatura, preservando o essencial.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1. Dimensiona quanto falta.
2. Compara saídas e consequências.
3. Acompanha a ação escolhida.</a:t>
            </a:r>
          </a:p>
        </p:txBody>
      </p:sp>
      <p:sp>
        <p:nvSpPr>
          <p:cNvPr id="9" name="Retângulo: Cantos Arredondados 8">
            <a:extLst xmlns:a="http://schemas.openxmlformats.org/drawingml/2006/main">
              <a:ext uri="{FF2B5EF4-FFF2-40B4-BE49-F238E27FC236}">
                <a16:creationId xmlns:a16="http://schemas.microsoft.com/office/drawing/2014/main" id="{852AA6C4-E55A-2B6C-A18B-E9E0D8A7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Dados e tecnologia: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Extrato → confirmar contexto → calcular cenários → orientar escolha → acompanhar plano.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ADK/Gemini + BigQuery + Cloud Run. Confirmar fatura, vencimento e condições.</a:t>
            </a:r>
          </a:p>
        </p:txBody>
      </p:sp>
      <p:sp>
        <p:nvSpPr>
          <p:cNvPr id="10" name="Retângulo: Cantos Arredondados 9">
            <a:extLst xmlns:a="http://schemas.openxmlformats.org/drawingml/2006/main">
              <a:ext uri="{FF2B5EF4-FFF2-40B4-BE49-F238E27FC236}">
                <a16:creationId xmlns:a16="http://schemas.microsoft.com/office/drawing/2014/main" id="{39E7D8D3-AA05-11F1-70CC-B86D4136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18422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Como mediremos valor: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Valor a financiar e custo projetado; ações concluídas; compreensão; recorrência do parcial/mínimo.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Demo compara cenários. Piloto mede resultados observados.</a:t>
            </a:r>
          </a:p>
        </p:txBody>
      </p:sp>
      <p:sp>
        <p:nvSpPr>
          <p:cNvPr id="11" name="Retângulo: Cantos Arredondados 10">
            <a:extLst xmlns:a="http://schemas.openxmlformats.org/drawingml/2006/main">
              <a:ext uri="{FF2B5EF4-FFF2-40B4-BE49-F238E27FC236}">
                <a16:creationId xmlns:a16="http://schemas.microsoft.com/office/drawing/2014/main" id="{B9683534-50E7-B1FF-A8A8-25E2C48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Escopo da Demo: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Uma pessoa, uma fatura: confirma contexto → compara duas saídas → escolhe ação → acompanha plano.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Dados e condições simulados, identificados. Sem contratação ou pagamento real.</a:t>
            </a:r>
          </a:p>
        </p:txBody>
      </p:sp>
      <p:sp>
        <p:nvSpPr>
          <p:cNvPr id="23" name="Retângulo: Cantos Arredondados 22">
            <a:extLst xmlns:a="http://schemas.openxmlformats.org/drawingml/2006/main">
              <a:ext uri="{FF2B5EF4-FFF2-40B4-BE49-F238E27FC236}">
                <a16:creationId xmlns:a16="http://schemas.microsoft.com/office/drawing/2014/main" id="{20E92CF2-1957-367F-AFA3-C447D8E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629" y="1260909"/>
            <a:ext cx="4933704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Equipe: Time 05</a:t>
            </a:r>
          </a:p>
        </p:txBody>
      </p:sp>
    </p:spTree>
    <p:extLst>
      <p:ext uri="{BB962C8B-B14F-4D97-AF65-F5344CB8AC3E}">
        <p14:creationId xmlns:p14="http://schemas.microsoft.com/office/powerpoint/2010/main" val="3073358549"/>
      </p:ext>
    </p:extLst>
  </p:cSld>
</p:sld>
</file>

<file path=ppt/theme/theme1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2026-09-26T15:52:24.8920000Z</dcterms:created>
  <dcterms:modified xsi:type="dcterms:W3CDTF">2026-09-26T15:52:24.8920000Z</dcterms:modified>
</coreProperties>
</file>