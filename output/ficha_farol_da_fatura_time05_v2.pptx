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752662be7d00435c" Type="http://schemas.openxmlformats.org/officeDocument/2006/relationships/extended-properties" Target="docProps/app.xml"/><Relationship Id="Rc6694ede49ff4104" Type="http://schemas.openxmlformats.org/package/2006/relationships/metadata/core-properties" Target="docProps/core.xml"/><Relationship Id="Rdf49826bf045441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1086712db4193"/>
  </p:sldMasterIdLst>
  <p:notesMasterIdLst>
    <p:notesMasterId xmlns:r="http://schemas.openxmlformats.org/officeDocument/2006/relationships" r:id="R0e3eabbfaebd44d6"/>
  </p:notesMasterIdLst>
  <p:sldIdLst>
    <p:sldId xmlns:r="http://schemas.openxmlformats.org/officeDocument/2006/relationships" id="256" r:id="R5faebe595b4e4a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3eabbfaebd44d6" Type="http://schemas.openxmlformats.org/officeDocument/2006/relationships/notesMaster" Target="notesMasters/notesMaster1.xml"/><Relationship Id="R1fb4e07e4eb94a08" Type="http://schemas.openxmlformats.org/officeDocument/2006/relationships/presProps" Target="presProps.xml"/><Relationship Id="R5faebe595b4e4aff" Type="http://schemas.openxmlformats.org/officeDocument/2006/relationships/slide" Target="slides/slide1.xml"/><Relationship Id="R8708a6efbc32433b" Type="http://schemas.openxmlformats.org/officeDocument/2006/relationships/theme" Target="theme/theme1.xml"/><Relationship Id="R8af1cc7d3efc41fe" Type="http://schemas.openxmlformats.org/officeDocument/2006/relationships/tableStyles" Target="tableStyles.xml"/><Relationship Id="R923481df864043bc" Type="http://schemas.openxmlformats.org/officeDocument/2006/relationships/viewProps" Target="viewProps.xml"/><Relationship Id="R9db1086712db4193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de9d61166cfd40c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5c3f7bb7d864e85" Type="http://schemas.openxmlformats.org/officeDocument/2006/relationships/slide" Target="../slides/slide1.xml"/><Relationship Id="R55054e31dac3498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Rascunho para validação do Time 05. Base: batalha-time-05-xew3.hackathon_dados.extrato_sintetico; contagens obtidas em 26/09/2026 por COUNTIF(parcela_total &gt; 1) e COUNTIF(saldo_apos &lt; 0). Os números são de lançamentos, não de pessoas. Diretriz de educação financeira: Resolução Conjunta BCB/CMN nº 8, https://www.bcb.gov.br/estabilidadefinanceira/exibenormativo?numero=8&amp;tipo=Resolu%C3%A7%C3%A3o%2520Conjunta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c682728ef8248e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ec0a60af2254e81" Type="http://schemas.openxmlformats.org/officeDocument/2006/relationships/slideLayout" Target="../slideLayouts/slideLayout1.xml"/><Relationship Id="Re43a983a77754891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aixaDeTexto 2">
            <a:extLst xmlns:a="http://schemas.openxmlformats.org/drawingml/2006/main"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57340"/>
            <a:ext cx="104298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0a60af225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892bd1384a84c73" Type="http://schemas.openxmlformats.org/officeDocument/2006/relationships/notesSlide" Target="../notesSlides/notesSlide1.xml"/><Relationship Id="R471e0c59303f4ed1" Type="http://schemas.openxmlformats.org/officeDocument/2006/relationships/slideLayout" Target="../slideLayouts/slideLayout1.xml"/><Relationship Id="R4f6e72818a3446bf" Type="http://schemas.openxmlformats.org/officeDocument/2006/relationships/image" Target="../media/image.png"/><Relationship Id="Rfbe7825ea9cb4fbb" Type="http://schemas.openxmlformats.org/officeDocument/2006/relationships/image" Target="../media/image.jpe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be7825ea9cb4fb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e72818a3446bf"/>
          <a:stretch xmlns:a="http://schemas.openxmlformats.org/drawingml/2006/main"/>
        </p:blipFill>
        <p:spPr>
          <a:xfrm xmlns:a="http://schemas.openxmlformats.org/drawingml/2006/main">
            <a:off x="753268" y="6381750"/>
            <a:ext cx="836613" cy="381000"/>
          </a:xfrm>
          <a:prstGeom xmlns:a="http://schemas.openxmlformats.org/drawingml/2006/main" prst="rect">
            <a:avLst/>
          </a:prstGeom>
        </p:spPr>
      </p:pic>
      <p:sp>
        <p:nvSpPr>
          <p:cNvPr id="4" name="Retângulo: Cantos Arredondados 3">
            <a:extLst xmlns:a="http://schemas.openxmlformats.org/drawingml/2006/main"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0909"/>
            <a:ext cx="5542146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Agente: Farol da Fatura</a:t>
            </a:r>
          </a:p>
        </p:txBody>
      </p:sp>
      <p:sp>
        <p:nvSpPr>
          <p:cNvPr id="5" name="Retângulo: Cantos Arredondados 4">
            <a:extLst xmlns:a="http://schemas.openxmlformats.org/drawingml/2006/main"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paga parte da fatura sem ver o custo.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Na base sintética: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689 de 1.000 pagaram parcial; juros em 99,97% desses meses.</a:t>
            </a:r>
          </a:p>
        </p:txBody>
      </p:sp>
      <p:sp>
        <p:nvSpPr>
          <p:cNvPr id="6" name="Retângulo: Cantos Arredondados 5">
            <a:extLst xmlns:a="http://schemas.openxmlformats.org/drawingml/2006/main"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6266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CLT decide quanto pagar da fatura.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Contexto: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vencimento em 3 dias e contas fixas a pagar.</a:t>
            </a:r>
          </a:p>
        </p:txBody>
      </p:sp>
      <p:sp>
        <p:nvSpPr>
          <p:cNvPr id="7" name="Retângulo: Cantos Arredondados 6">
            <a:extLst xmlns:a="http://schemas.openxmlformats.org/drawingml/2006/main"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Mostra o custo de cada forma de pagar a fatura.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Três capacidades: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Lê o mês; compara custos; orienta sem vender crédito.</a:t>
            </a:r>
          </a:p>
        </p:txBody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  <a:br/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BigQuery → cálculo de custo → Gemini → Cloud Run.</a:t>
            </a:r>
            <a:br/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Fontes: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Extrato + taxas como parâmetro explícito.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 Black"/>
              <a:ea typeface="Itau Display Pro Black"/>
              <a:cs typeface="Itau Display Pro Black"/>
            </a:endParaRPr>
          </a:p>
        </p:txBody>
      </p:sp>
      <p:sp>
        <p:nvSpPr>
          <p:cNvPr id="10" name="Retângulo: Cantos Arredondados 9">
            <a:extLst xmlns:a="http://schemas.openxmlformats.org/drawingml/2006/main"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8422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  <a:br/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Menos faturas pagas no mínimo; juros evitados.</a:t>
            </a:r>
            <a:br/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Sinais no piloto: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% integral ou parcelada; R$ de juros evitados; compreensão.</a:t>
            </a:r>
          </a:p>
        </p:txBody>
      </p:sp>
      <p:sp>
        <p:nvSpPr>
          <p:cNvPr id="11" name="Retângulo: Cantos Arredondados 10">
            <a:extLst xmlns:a="http://schemas.openxmlformats.org/drawingml/2006/main"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</a:t>
            </a:r>
            <a:br/>
            <a:r>
              <a:rPr sz="16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Fatura dia 15: alerta → 3 opções → plano escolhido.</a:t>
            </a:r>
            <a:br/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Itau Display Pro"/>
              <a:ea typeface="Itau Display Pro"/>
              <a:cs typeface="Itau Display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Limites: </a:t>
            </a:r>
            <a:br/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Sem pagamento real, taxas ilustrativas, dados de 2025.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629" y="1260909"/>
            <a:ext cx="4933704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Time 05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2026-09-26T15:06:36.9190000Z</dcterms:created>
  <dcterms:modified xsi:type="dcterms:W3CDTF">2026-09-26T15:06:36.9190000Z</dcterms:modified>
</coreProperties>
</file>